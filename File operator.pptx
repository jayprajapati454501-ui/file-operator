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53" r:id="rId5"/>
    <p:sldId id="329" r:id="rId6"/>
    <p:sldId id="354" r:id="rId7"/>
    <p:sldId id="331" r:id="rId8"/>
    <p:sldId id="345" r:id="rId9"/>
    <p:sldId id="347" r:id="rId10"/>
    <p:sldId id="350" r:id="rId11"/>
    <p:sldId id="351" r:id="rId12"/>
    <p:sldId id="352" r:id="rId13"/>
    <p:sldId id="357" r:id="rId14"/>
    <p:sldId id="3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966" autoAdjust="0"/>
  </p:normalViewPr>
  <p:slideViewPr>
    <p:cSldViewPr snapToGrid="0">
      <p:cViewPr>
        <p:scale>
          <a:sx n="91" d="100"/>
          <a:sy n="91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1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1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</p:spPr>
        <p:txBody>
          <a:bodyPr/>
          <a:lstStyle/>
          <a:p>
            <a:r>
              <a:rPr lang="en-US" dirty="0"/>
              <a:t>File operator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que 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6026" y="1845578"/>
            <a:ext cx="2248249" cy="654340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Overview </a:t>
            </a:r>
          </a:p>
        </p:txBody>
      </p:sp>
      <p:pic>
        <p:nvPicPr>
          <p:cNvPr id="12" name="Picture Placeholder 11" descr="A close up of white and pink flowers">
            <a:extLst>
              <a:ext uri="{FF2B5EF4-FFF2-40B4-BE49-F238E27FC236}">
                <a16:creationId xmlns:a16="http://schemas.microsoft.com/office/drawing/2014/main" id="{638025BA-3E49-3EFD-417E-955B4B95B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5174458" cy="68580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BC27E-ED02-E738-1B43-E66F422B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2A7C2-1D63-EFD6-869B-2F167F9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25E720-E33E-52E9-D3AA-535DAE42BAE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 </a:t>
            </a:r>
            <a:r>
              <a:rPr lang="en-IN" b="1" dirty="0"/>
              <a:t>Personal Journal Manager</a:t>
            </a:r>
            <a:r>
              <a:rPr lang="en-IN" dirty="0"/>
              <a:t> is a Python application designed to let users maintain a personal text journal. Built using Object-Oriented Programming (OOP) principles, it provides file operations such as appending new entries, reading stored text, searching for entries by keywords or dates, and deleting journal data.</a:t>
            </a:r>
          </a:p>
        </p:txBody>
      </p:sp>
    </p:spTree>
    <p:extLst>
      <p:ext uri="{BB962C8B-B14F-4D97-AF65-F5344CB8AC3E}">
        <p14:creationId xmlns:p14="http://schemas.microsoft.com/office/powerpoint/2010/main" val="372459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" descr="A bouquet of flowers">
            <a:extLst>
              <a:ext uri="{FF2B5EF4-FFF2-40B4-BE49-F238E27FC236}">
                <a16:creationId xmlns:a16="http://schemas.microsoft.com/office/drawing/2014/main" id="{D34D75C6-A35A-52D3-B03F-61494B858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C3427B2-C457-FC4C-BA04-44EF586F3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582952"/>
          </a:xfrm>
        </p:spPr>
        <p:txBody>
          <a:bodyPr/>
          <a:lstStyle/>
          <a:p>
            <a:r>
              <a:rPr lang="en-IN" dirty="0"/>
              <a:t>Architecture &amp; Class Structure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C8D8B-2E15-875B-08A8-28C5524EF69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4F408-30BE-5DC2-806D-A217DB0281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Plaque 10">
            <a:extLst>
              <a:ext uri="{FF2B5EF4-FFF2-40B4-BE49-F238E27FC236}">
                <a16:creationId xmlns:a16="http://schemas.microsoft.com/office/drawing/2014/main" id="{95E724B3-E95F-E150-E7F9-1C3F634EF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0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FEC193-4F90-6CAE-6259-21C8B6A84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1" y="4925255"/>
            <a:ext cx="972078" cy="2853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119B25-42CB-340B-ACB4-22178DF12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608561" y="1624116"/>
            <a:ext cx="972078" cy="2853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B63630-0718-7BB0-B369-9BAFC6AF597B}"/>
              </a:ext>
            </a:extLst>
          </p:cNvPr>
          <p:cNvSpPr txBox="1"/>
          <p:nvPr/>
        </p:nvSpPr>
        <p:spPr>
          <a:xfrm>
            <a:off x="2457974" y="3040901"/>
            <a:ext cx="6717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Class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 err="1">
                <a:highlight>
                  <a:srgbClr val="C0C0C0"/>
                </a:highlight>
                <a:latin typeface="+mn-lt"/>
              </a:rPr>
              <a:t>JournalManager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809315-6088-2BED-C839-C7A6792FA4E3}"/>
              </a:ext>
            </a:extLst>
          </p:cNvPr>
          <p:cNvSpPr txBox="1"/>
          <p:nvPr/>
        </p:nvSpPr>
        <p:spPr>
          <a:xfrm>
            <a:off x="2306973" y="3533611"/>
            <a:ext cx="53941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highlight>
                  <a:srgbClr val="C0C0C0"/>
                </a:highlight>
              </a:rPr>
              <a:t>Attributes:</a:t>
            </a:r>
            <a:endParaRPr lang="en-IN" dirty="0">
              <a:highlight>
                <a:srgbClr val="C0C0C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highlight>
                  <a:srgbClr val="C0C0C0"/>
                </a:highlight>
                <a:latin typeface="+mn-lt"/>
              </a:rPr>
              <a:t>filename</a:t>
            </a:r>
            <a:r>
              <a:rPr lang="en-IN" dirty="0">
                <a:highlight>
                  <a:srgbClr val="C0C0C0"/>
                </a:highlight>
              </a:rPr>
              <a:t> </a:t>
            </a:r>
            <a:r>
              <a:rPr lang="en-IN" i="1" dirty="0">
                <a:highlight>
                  <a:srgbClr val="C0C0C0"/>
                </a:highlight>
              </a:rPr>
              <a:t>(str)</a:t>
            </a:r>
            <a:r>
              <a:rPr lang="en-IN" dirty="0">
                <a:highlight>
                  <a:srgbClr val="C0C0C0"/>
                </a:highlight>
              </a:rPr>
              <a:t>: Stores the target file name </a:t>
            </a:r>
            <a:r>
              <a:rPr lang="en-IN" dirty="0"/>
              <a:t>for </a:t>
            </a:r>
            <a:r>
              <a:rPr lang="en-IN" dirty="0">
                <a:highlight>
                  <a:srgbClr val="C0C0C0"/>
                </a:highlight>
              </a:rPr>
              <a:t>operations (defaults to </a:t>
            </a:r>
            <a:r>
              <a:rPr lang="en-IN" dirty="0">
                <a:highlight>
                  <a:srgbClr val="C0C0C0"/>
                </a:highlight>
                <a:latin typeface="+mn-lt"/>
              </a:rPr>
              <a:t>"journal.txt"</a:t>
            </a:r>
            <a:r>
              <a:rPr lang="en-IN" dirty="0">
                <a:highlight>
                  <a:srgbClr val="C0C0C0"/>
                </a:highlight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3348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5" descr="A group of orange flowers">
            <a:extLst>
              <a:ext uri="{FF2B5EF4-FFF2-40B4-BE49-F238E27FC236}">
                <a16:creationId xmlns:a16="http://schemas.microsoft.com/office/drawing/2014/main" id="{B0E612D5-D631-0C31-BE9E-2873924332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501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4488" y="0"/>
            <a:ext cx="4434464" cy="6858000"/>
          </a:xfrm>
          <a:solidFill>
            <a:schemeClr val="bg1">
              <a:lumMod val="95000"/>
            </a:schemeClr>
          </a:solidFill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D26019BC-131D-020B-9CAB-708C0712D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672" y="713064"/>
            <a:ext cx="6656495" cy="460874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Methods:</a:t>
            </a:r>
          </a:p>
          <a:p>
            <a:r>
              <a:rPr lang="en-US" dirty="0" err="1"/>
              <a:t>init</a:t>
            </a:r>
            <a:r>
              <a:rPr lang="en-US" dirty="0"/>
              <a:t>__(self, filename="journal.txt"): Initializes the manager with a designated filename.</a:t>
            </a:r>
          </a:p>
          <a:p>
            <a:r>
              <a:rPr lang="en-US" dirty="0"/>
              <a:t>Add _ entry(self, user _ input): Appends timestamped text to the journal file using mode 'a'.</a:t>
            </a:r>
          </a:p>
          <a:p>
            <a:r>
              <a:rPr lang="en-US" dirty="0"/>
              <a:t>View _ all_ entries(self): Reads and prints all entries using mode 'r'.</a:t>
            </a:r>
          </a:p>
          <a:p>
            <a:r>
              <a:rPr lang="en-US" dirty="0"/>
              <a:t>Search _ entry(self, keyword): Case-insensitively searches entries separated by blank lines (\n\n).</a:t>
            </a:r>
          </a:p>
          <a:p>
            <a:r>
              <a:rPr lang="en-US" dirty="0"/>
              <a:t>Delete _all _ entries(self): Deletes the target file using </a:t>
            </a:r>
            <a:r>
              <a:rPr lang="en-US" dirty="0" err="1"/>
              <a:t>os</a:t>
            </a:r>
            <a:r>
              <a:rPr lang="en-US" dirty="0"/>
              <a:t>. remove() after user confirmation.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187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2271FDD-F415-411D-6907-25F270FBF6D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55487501"/>
              </p:ext>
            </p:extLst>
          </p:nvPr>
        </p:nvGraphicFramePr>
        <p:xfrm>
          <a:off x="5008228" y="654340"/>
          <a:ext cx="6412248" cy="52347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7416">
                  <a:extLst>
                    <a:ext uri="{9D8B030D-6E8A-4147-A177-3AD203B41FA5}">
                      <a16:colId xmlns:a16="http://schemas.microsoft.com/office/drawing/2014/main" val="3759698886"/>
                    </a:ext>
                  </a:extLst>
                </a:gridCol>
                <a:gridCol w="2137416">
                  <a:extLst>
                    <a:ext uri="{9D8B030D-6E8A-4147-A177-3AD203B41FA5}">
                      <a16:colId xmlns:a16="http://schemas.microsoft.com/office/drawing/2014/main" val="3405740129"/>
                    </a:ext>
                  </a:extLst>
                </a:gridCol>
                <a:gridCol w="2137416">
                  <a:extLst>
                    <a:ext uri="{9D8B030D-6E8A-4147-A177-3AD203B41FA5}">
                      <a16:colId xmlns:a16="http://schemas.microsoft.com/office/drawing/2014/main" val="249111120"/>
                    </a:ext>
                  </a:extLst>
                </a:gridCol>
              </a:tblGrid>
              <a:tr h="615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Operation</a:t>
                      </a:r>
                    </a:p>
                  </a:txBody>
                  <a:tcPr marL="50292" marR="50292" marT="25146" marB="251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Mode / Function</a:t>
                      </a:r>
                    </a:p>
                  </a:txBody>
                  <a:tcPr marL="50292" marR="50292" marT="25146" marB="251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Implementation Details</a:t>
                      </a:r>
                    </a:p>
                  </a:txBody>
                  <a:tcPr marL="50292" marR="50292" marT="25146" marB="25146" anchor="ctr"/>
                </a:tc>
                <a:extLst>
                  <a:ext uri="{0D108BD9-81ED-4DB2-BD59-A6C34878D82A}">
                    <a16:rowId xmlns:a16="http://schemas.microsoft.com/office/drawing/2014/main" val="2068736522"/>
                  </a:ext>
                </a:extLst>
              </a:tr>
              <a:tr h="2002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Write/Append</a:t>
                      </a:r>
                    </a:p>
                  </a:txBody>
                  <a:tcPr marL="50292" marR="50292" marT="25146" marB="251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Mode 'a'</a:t>
                      </a:r>
                    </a:p>
                  </a:txBody>
                  <a:tcPr marL="50292" marR="50292" marT="25146" marB="251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Appends a timestamp ([YYYY-MM-DD HH:MM:SS]) followed by input text and standard separators. Creates the file automatically if it does not exist.</a:t>
                      </a:r>
                    </a:p>
                  </a:txBody>
                  <a:tcPr marL="50292" marR="50292" marT="25146" marB="25146" anchor="ctr"/>
                </a:tc>
                <a:extLst>
                  <a:ext uri="{0D108BD9-81ED-4DB2-BD59-A6C34878D82A}">
                    <a16:rowId xmlns:a16="http://schemas.microsoft.com/office/drawing/2014/main" val="3391805455"/>
                  </a:ext>
                </a:extLst>
              </a:tr>
              <a:tr h="1539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Read</a:t>
                      </a:r>
                    </a:p>
                  </a:txBody>
                  <a:tcPr marL="50292" marR="50292" marT="25146" marB="251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Mode 'r'</a:t>
                      </a:r>
                    </a:p>
                  </a:txBody>
                  <a:tcPr marL="50292" marR="50292" marT="25146" marB="251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Reads the entire content to display to the user or splits entries by \n\n for filtering.</a:t>
                      </a:r>
                    </a:p>
                  </a:txBody>
                  <a:tcPr marL="50292" marR="50292" marT="25146" marB="25146" anchor="ctr"/>
                </a:tc>
                <a:extLst>
                  <a:ext uri="{0D108BD9-81ED-4DB2-BD59-A6C34878D82A}">
                    <a16:rowId xmlns:a16="http://schemas.microsoft.com/office/drawing/2014/main" val="1916877074"/>
                  </a:ext>
                </a:extLst>
              </a:tr>
              <a:tr h="10774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Delete</a:t>
                      </a:r>
                    </a:p>
                  </a:txBody>
                  <a:tcPr marL="50292" marR="50292" marT="25146" marB="251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os.remove()</a:t>
                      </a:r>
                    </a:p>
                  </a:txBody>
                  <a:tcPr marL="50292" marR="50292" marT="25146" marB="251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Deletes the text file completely from the system disk upon confirmation</a:t>
                      </a:r>
                    </a:p>
                  </a:txBody>
                  <a:tcPr marL="50292" marR="50292" marT="25146" marB="25146" anchor="ctr"/>
                </a:tc>
                <a:extLst>
                  <a:ext uri="{0D108BD9-81ED-4DB2-BD59-A6C34878D82A}">
                    <a16:rowId xmlns:a16="http://schemas.microsoft.com/office/drawing/2014/main" val="179248691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D929C-9009-957F-5897-9AA1649E6C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8EC13-CC66-14BE-C305-D90EB840C4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FB3D5DC-4BB2-190E-1E03-A75DB4E7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File Handling &amp; Operations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42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70AC-601F-D537-3460-3FE09CC6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327172"/>
            <a:ext cx="7439525" cy="112412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Exception Handling &amp; Validation</a:t>
            </a:r>
            <a:br>
              <a:rPr lang="en-IN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6D170-AC52-72BE-0CB6-F9F504A3D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6466F-9F24-C34E-BBA6-2CB943055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AF817E-5CFD-8FCE-8955-2E06368A490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8449" y="2214694"/>
            <a:ext cx="11392248" cy="4316134"/>
          </a:xfrm>
        </p:spPr>
        <p:txBody>
          <a:bodyPr/>
          <a:lstStyle/>
          <a:p>
            <a:r>
              <a:rPr lang="en-IN" dirty="0"/>
              <a:t>The application includes try-except blocks to ensure program stability during run-time errors:</a:t>
            </a:r>
          </a:p>
          <a:p>
            <a:pPr lvl="0"/>
            <a:r>
              <a:rPr lang="en-IN" b="1" dirty="0"/>
              <a:t>File Not Found Error Prevention:</a:t>
            </a:r>
            <a:r>
              <a:rPr lang="en-IN" dirty="0"/>
              <a:t> Checked prior to read, search, and delete operations using </a:t>
            </a:r>
            <a:r>
              <a:rPr lang="en-IN" dirty="0" err="1"/>
              <a:t>os</a:t>
            </a:r>
            <a:r>
              <a:rPr lang="en-IN" dirty="0"/>
              <a:t>. path. exists () to avoid abrupt crashes when the journal file is missing.</a:t>
            </a:r>
          </a:p>
          <a:p>
            <a:pPr lvl="0"/>
            <a:r>
              <a:rPr lang="en-IN" b="1" dirty="0"/>
              <a:t>Permission Error:</a:t>
            </a:r>
            <a:r>
              <a:rPr lang="en-IN" dirty="0"/>
              <a:t> Trapped when reading, appending, or deleting files if operating system permissions restrict access.</a:t>
            </a:r>
          </a:p>
          <a:p>
            <a:pPr lvl="0"/>
            <a:r>
              <a:rPr lang="en-IN" b="1" dirty="0"/>
              <a:t>Generic Exceptions:</a:t>
            </a:r>
            <a:r>
              <a:rPr lang="en-IN" dirty="0"/>
              <a:t> A general except Exception as e clause catches unhandled system exceptions to prevent script termination.</a:t>
            </a:r>
          </a:p>
          <a:p>
            <a:pPr lvl="0"/>
            <a:r>
              <a:rPr lang="en-IN" b="1" dirty="0"/>
              <a:t>Menu Input Handling:</a:t>
            </a:r>
            <a:r>
              <a:rPr lang="en-IN" dirty="0"/>
              <a:t> Validates menu entries (1 through 5) and outputs specific error prompts for invalid menu inputs.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34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BFBF-F8B0-D44E-B6BF-4A0429AC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IN" dirty="0"/>
              <a:t>Functionality Test Cases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848C7-243A-AE13-E323-3C71FD8DA6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69194-7927-A259-0C43-EE59A4603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Content Placeholder 10">
                <a:extLst>
                  <a:ext uri="{FF2B5EF4-FFF2-40B4-BE49-F238E27FC236}">
                    <a16:creationId xmlns:a16="http://schemas.microsoft.com/office/drawing/2014/main" id="{C984FD05-09E4-788C-52CD-F7E83CC82D38}"/>
                  </a:ext>
                </a:extLst>
              </p:cNvPr>
              <p:cNvGraphicFramePr>
                <a:graphicFrameLocks noGrp="1"/>
              </p:cNvGraphicFramePr>
              <p:nvPr>
                <p:ph sz="quarter" idx="13"/>
                <p:extLst>
                  <p:ext uri="{D42A27DB-BD31-4B8C-83A1-F6EECF244321}">
                    <p14:modId xmlns:p14="http://schemas.microsoft.com/office/powerpoint/2010/main" val="3846631159"/>
                  </p:ext>
                </p:extLst>
              </p:nvPr>
            </p:nvGraphicFramePr>
            <p:xfrm>
              <a:off x="932688" y="2273417"/>
              <a:ext cx="9243160" cy="408293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10790">
                      <a:extLst>
                        <a:ext uri="{9D8B030D-6E8A-4147-A177-3AD203B41FA5}">
                          <a16:colId xmlns:a16="http://schemas.microsoft.com/office/drawing/2014/main" val="2737642732"/>
                        </a:ext>
                      </a:extLst>
                    </a:gridCol>
                    <a:gridCol w="2310790">
                      <a:extLst>
                        <a:ext uri="{9D8B030D-6E8A-4147-A177-3AD203B41FA5}">
                          <a16:colId xmlns:a16="http://schemas.microsoft.com/office/drawing/2014/main" val="2132760759"/>
                        </a:ext>
                      </a:extLst>
                    </a:gridCol>
                    <a:gridCol w="2310790">
                      <a:extLst>
                        <a:ext uri="{9D8B030D-6E8A-4147-A177-3AD203B41FA5}">
                          <a16:colId xmlns:a16="http://schemas.microsoft.com/office/drawing/2014/main" val="1375124269"/>
                        </a:ext>
                      </a:extLst>
                    </a:gridCol>
                    <a:gridCol w="2310790">
                      <a:extLst>
                        <a:ext uri="{9D8B030D-6E8A-4147-A177-3AD203B41FA5}">
                          <a16:colId xmlns:a16="http://schemas.microsoft.com/office/drawing/2014/main" val="604887369"/>
                        </a:ext>
                      </a:extLst>
                    </a:gridCol>
                  </a:tblGrid>
                  <a:tr h="240172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Test Case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Scenario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Input / Action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Expected Result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475756786"/>
                      </a:ext>
                    </a:extLst>
                  </a:tr>
                  <a:tr h="738992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TC-01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Add Entry (File creation)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Choice 1 </a:t>
                          </a:r>
                          <a14:m>
                            <m:oMath xmlns:m="http://schemas.openxmlformats.org/officeDocument/2006/math">
                              <m:r>
                                <a:rPr lang="en-IN" sz="1000" smtClean="0"/>
                                <m:t>→</m:t>
                              </m:r>
                            </m:oMath>
                          </a14:m>
                          <a:r>
                            <a:rPr lang="en-IN" sz="1000">
                              <a:effectLst/>
                            </a:rPr>
                            <a:t>Enter text "First journal entry"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Creates journal.txt, prepends timestamp [YYYY-MM-DD HH:MM:SS], prints success message.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1985710146"/>
                      </a:ext>
                    </a:extLst>
                  </a:tr>
                  <a:tr h="406446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TC-02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View All Entries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Choice 2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Displays all entries saved in journal.txt.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3916383514"/>
                      </a:ext>
                    </a:extLst>
                  </a:tr>
                  <a:tr h="572719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TC-03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Search Entry (Match)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Choice 3 </a:t>
                          </a:r>
                          <a14:m>
                            <m:oMath xmlns:m="http://schemas.openxmlformats.org/officeDocument/2006/math">
                              <m:r>
                                <a:rPr lang="en-IN" sz="1000" smtClean="0"/>
                                <m:t>→</m:t>
                              </m:r>
                            </m:oMath>
                          </a14:m>
                          <a:r>
                            <a:rPr lang="en-IN" sz="1000">
                              <a:effectLst/>
                            </a:rPr>
                            <a:t>Keyword "First"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Displays only entries containing "First" (case-insensitive).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2578203802"/>
                      </a:ext>
                    </a:extLst>
                  </a:tr>
                  <a:tr h="572719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TC-04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Search Entry (No Match)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Choice 3 </a:t>
                          </a:r>
                          <a14:m>
                            <m:oMath xmlns:m="http://schemas.openxmlformats.org/officeDocument/2006/math">
                              <m:r>
                                <a:rPr lang="en-IN" sz="1000" smtClean="0"/>
                                <m:t>→</m:t>
                              </m:r>
                            </m:oMath>
                          </a14:m>
                          <a:r>
                            <a:rPr lang="en-IN" sz="1000">
                              <a:effectLst/>
                            </a:rPr>
                            <a:t>Keyword "Nonexistent"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Outputs "No entries were found for the keyword: Nonexistent".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3818017163"/>
                      </a:ext>
                    </a:extLst>
                  </a:tr>
                  <a:tr h="572719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TC-05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Delete Entries (Confirm)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Choice 4 </a:t>
                          </a:r>
                          <a14:m>
                            <m:oMath xmlns:m="http://schemas.openxmlformats.org/officeDocument/2006/math">
                              <m:r>
                                <a:rPr lang="en-IN" sz="1000" smtClean="0"/>
                                <m:t>→</m:t>
                              </m:r>
                            </m:oMath>
                          </a14:m>
                          <a:r>
                            <a:rPr lang="en-IN" sz="1000">
                              <a:effectLst/>
                            </a:rPr>
                            <a:t>Confirm with "yes"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Removes journal.txt from disk and outputs deletion confirmation.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2540917320"/>
                      </a:ext>
                    </a:extLst>
                  </a:tr>
                  <a:tr h="572719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TC-06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File Missing Handlers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Run Choice 2, 3, or 4 before creating journal.txt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Displays friendly error message without crashing (handled via os.path.exists).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974807750"/>
                      </a:ext>
                    </a:extLst>
                  </a:tr>
                  <a:tr h="406446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TC-07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Invalid Menu Choice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Choice 99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 dirty="0">
                              <a:effectLst/>
                            </a:rPr>
                            <a:t>Outputs "Invalid option.." and re-prompts main menu.</a:t>
                          </a:r>
                          <a:endParaRPr lang="en-IN" sz="1000" dirty="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7298038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Content Placeholder 10">
                <a:extLst>
                  <a:ext uri="{FF2B5EF4-FFF2-40B4-BE49-F238E27FC236}">
                    <a16:creationId xmlns:a16="http://schemas.microsoft.com/office/drawing/2014/main" id="{C984FD05-09E4-788C-52CD-F7E83CC82D38}"/>
                  </a:ext>
                </a:extLst>
              </p:cNvPr>
              <p:cNvGraphicFramePr>
                <a:graphicFrameLocks noGrp="1"/>
              </p:cNvGraphicFramePr>
              <p:nvPr>
                <p:ph sz="quarter" idx="13"/>
                <p:extLst>
                  <p:ext uri="{D42A27DB-BD31-4B8C-83A1-F6EECF244321}">
                    <p14:modId xmlns:p14="http://schemas.microsoft.com/office/powerpoint/2010/main" val="3846631159"/>
                  </p:ext>
                </p:extLst>
              </p:nvPr>
            </p:nvGraphicFramePr>
            <p:xfrm>
              <a:off x="932688" y="2273417"/>
              <a:ext cx="9243160" cy="408293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10790">
                      <a:extLst>
                        <a:ext uri="{9D8B030D-6E8A-4147-A177-3AD203B41FA5}">
                          <a16:colId xmlns:a16="http://schemas.microsoft.com/office/drawing/2014/main" val="2737642732"/>
                        </a:ext>
                      </a:extLst>
                    </a:gridCol>
                    <a:gridCol w="2310790">
                      <a:extLst>
                        <a:ext uri="{9D8B030D-6E8A-4147-A177-3AD203B41FA5}">
                          <a16:colId xmlns:a16="http://schemas.microsoft.com/office/drawing/2014/main" val="2132760759"/>
                        </a:ext>
                      </a:extLst>
                    </a:gridCol>
                    <a:gridCol w="2310790">
                      <a:extLst>
                        <a:ext uri="{9D8B030D-6E8A-4147-A177-3AD203B41FA5}">
                          <a16:colId xmlns:a16="http://schemas.microsoft.com/office/drawing/2014/main" val="1375124269"/>
                        </a:ext>
                      </a:extLst>
                    </a:gridCol>
                    <a:gridCol w="2310790">
                      <a:extLst>
                        <a:ext uri="{9D8B030D-6E8A-4147-A177-3AD203B41FA5}">
                          <a16:colId xmlns:a16="http://schemas.microsoft.com/office/drawing/2014/main" val="604887369"/>
                        </a:ext>
                      </a:extLst>
                    </a:gridCol>
                  </a:tblGrid>
                  <a:tr h="240172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Test Case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Scenario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Input / Action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Expected Result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475756786"/>
                      </a:ext>
                    </a:extLst>
                  </a:tr>
                  <a:tr h="738992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TC-01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Add Entry (File creation)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668" marR="52668" marT="35112" marB="35112" anchor="ctr">
                        <a:blipFill>
                          <a:blip r:embed="rId2"/>
                          <a:stretch>
                            <a:fillRect l="-200792" t="-32787" r="-100528" b="-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Creates journal.txt, prepends timestamp [YYYY-MM-DD HH:MM:SS], prints success message.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1985710146"/>
                      </a:ext>
                    </a:extLst>
                  </a:tr>
                  <a:tr h="406446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TC-02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View All Entries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Choice 2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Displays all entries saved in journal.txt.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3916383514"/>
                      </a:ext>
                    </a:extLst>
                  </a:tr>
                  <a:tr h="572719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TC-03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Search Entry (Match)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668" marR="52668" marT="35112" marB="35112" anchor="ctr">
                        <a:blipFill>
                          <a:blip r:embed="rId2"/>
                          <a:stretch>
                            <a:fillRect l="-200792" t="-243617" r="-100528" b="-375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Displays only entries containing "First" (case-insensitive).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2578203802"/>
                      </a:ext>
                    </a:extLst>
                  </a:tr>
                  <a:tr h="572719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TC-04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Search Entry (No Match)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668" marR="52668" marT="35112" marB="35112" anchor="ctr">
                        <a:blipFill>
                          <a:blip r:embed="rId2"/>
                          <a:stretch>
                            <a:fillRect l="-200792" t="-343617" r="-100528" b="-275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Outputs "No entries were found for the keyword: Nonexistent".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3818017163"/>
                      </a:ext>
                    </a:extLst>
                  </a:tr>
                  <a:tr h="572719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TC-05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Delete Entries (Confirm)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668" marR="52668" marT="35112" marB="35112" anchor="ctr">
                        <a:blipFill>
                          <a:blip r:embed="rId2"/>
                          <a:stretch>
                            <a:fillRect l="-200792" t="-443617" r="-100528" b="-175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Removes journal.txt from disk and outputs deletion confirmation.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2540917320"/>
                      </a:ext>
                    </a:extLst>
                  </a:tr>
                  <a:tr h="572719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TC-06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File Missing Handlers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Run Choice 2, 3, or 4 before creating journal.txt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Displays friendly error message without crashing (handled via os.path.exists).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974807750"/>
                      </a:ext>
                    </a:extLst>
                  </a:tr>
                  <a:tr h="406446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TC-07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Invalid Menu Choice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>
                              <a:effectLst/>
                            </a:rPr>
                            <a:t>Choice 99</a:t>
                          </a:r>
                          <a:endParaRPr lang="en-IN" sz="100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sz="1000" dirty="0">
                              <a:effectLst/>
                            </a:rPr>
                            <a:t>Outputs "Invalid option.." and re-prompts main menu.</a:t>
                          </a:r>
                          <a:endParaRPr lang="en-IN" sz="1000" dirty="0">
                            <a:effectLst/>
                            <a:latin typeface="Google Sans Text"/>
                          </a:endParaRPr>
                        </a:p>
                      </a:txBody>
                      <a:tcPr marL="52668" marR="52668" marT="35112" marB="35112" anchor="ctr"/>
                    </a:tc>
                    <a:extLst>
                      <a:ext uri="{0D108BD9-81ED-4DB2-BD59-A6C34878D82A}">
                        <a16:rowId xmlns:a16="http://schemas.microsoft.com/office/drawing/2014/main" val="7298038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8190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246B-8AB7-A0C9-C6DD-5D9F49D5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69" y="276838"/>
            <a:ext cx="5391269" cy="108218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Execution Walkthrough</a:t>
            </a:r>
            <a:br>
              <a:rPr lang="en-IN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0DCAFD-6C4D-D08A-CF94-0DA099CE4B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7469" y="2290194"/>
            <a:ext cx="10768612" cy="3095538"/>
          </a:xfrm>
        </p:spPr>
        <p:txBody>
          <a:bodyPr/>
          <a:lstStyle/>
          <a:p>
            <a:pPr lvl="0"/>
            <a:r>
              <a:rPr lang="en-IN" b="1" dirty="0"/>
              <a:t>saving the Script</a:t>
            </a:r>
            <a:endParaRPr lang="en-IN" dirty="0"/>
          </a:p>
          <a:p>
            <a:pPr lvl="0"/>
            <a:r>
              <a:rPr lang="en-IN" dirty="0"/>
              <a:t>Save your Python code in a file named project 6 rnw.py.</a:t>
            </a:r>
          </a:p>
          <a:p>
            <a:pPr lvl="0"/>
            <a:r>
              <a:rPr lang="en-IN" b="1" dirty="0"/>
              <a:t>Running the Program</a:t>
            </a:r>
            <a:endParaRPr lang="en-IN" dirty="0"/>
          </a:p>
          <a:p>
            <a:pPr lvl="0"/>
            <a:r>
              <a:rPr lang="en-IN" dirty="0"/>
              <a:t>Open your terminal/command prompt and run:</a:t>
            </a:r>
          </a:p>
          <a:p>
            <a:pPr lvl="0"/>
            <a:r>
              <a:rPr lang="en-IN" dirty="0"/>
              <a:t>Bash</a:t>
            </a:r>
          </a:p>
          <a:p>
            <a:pPr lvl="0"/>
            <a:r>
              <a:rPr lang="en-IN" dirty="0"/>
              <a:t>python "project 6 rnw.py"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99439-1EDB-4E13-5595-B32899617D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51A59-0D86-B758-5926-53062622A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81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0DBD-0B2D-6832-A30D-1A703185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Session Output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A5A04-AC5B-B4F0-7404-47D8B3C743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5138A-B125-D716-1DF1-A12D0FBDF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CF6BE1-C216-0896-2980-4CECA99DB7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3006" y="2457974"/>
            <a:ext cx="6837027" cy="3898376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=== Welcome to Personal Journal Manager! === </a:t>
            </a:r>
          </a:p>
          <a:p>
            <a:r>
              <a:rPr lang="en-US" dirty="0"/>
              <a:t> --&gt; Please select an option:</a:t>
            </a:r>
          </a:p>
          <a:p>
            <a:endParaRPr lang="en-US" dirty="0"/>
          </a:p>
          <a:p>
            <a:r>
              <a:rPr lang="en-US" dirty="0"/>
              <a:t>1. Add a New Entry</a:t>
            </a:r>
          </a:p>
          <a:p>
            <a:r>
              <a:rPr lang="en-US" dirty="0"/>
              <a:t>2. View All Entries</a:t>
            </a:r>
          </a:p>
          <a:p>
            <a:r>
              <a:rPr lang="en-US" dirty="0"/>
              <a:t>3. Search for an Entry</a:t>
            </a:r>
          </a:p>
          <a:p>
            <a:r>
              <a:rPr lang="en-US" dirty="0"/>
              <a:t>4. Delete All Entries</a:t>
            </a:r>
          </a:p>
          <a:p>
            <a:r>
              <a:rPr lang="en-US" dirty="0"/>
              <a:t>5. Exit</a:t>
            </a:r>
          </a:p>
          <a:p>
            <a:endParaRPr lang="en-US" dirty="0"/>
          </a:p>
          <a:p>
            <a:r>
              <a:rPr lang="en-US" dirty="0"/>
              <a:t> ~ User Input:</a:t>
            </a:r>
          </a:p>
          <a:p>
            <a:r>
              <a:rPr lang="en-US" dirty="0"/>
              <a:t>1</a:t>
            </a:r>
          </a:p>
          <a:p>
            <a:endParaRPr lang="en-US" dirty="0"/>
          </a:p>
          <a:p>
            <a:r>
              <a:rPr lang="en-US" dirty="0"/>
              <a:t> ~ Enter your journal entry:</a:t>
            </a:r>
          </a:p>
          <a:p>
            <a:r>
              <a:rPr lang="en-US" dirty="0"/>
              <a:t>Learned file handling modes in Python today.</a:t>
            </a:r>
          </a:p>
          <a:p>
            <a:endParaRPr lang="en-US" dirty="0"/>
          </a:p>
          <a:p>
            <a:r>
              <a:rPr lang="en-US" dirty="0"/>
              <a:t>Entry added successfully!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775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27D28-CFB5-6594-4576-4D2292559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Requirements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602F1-36A3-84D2-5175-714A645B57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9783" y="2365695"/>
            <a:ext cx="10887065" cy="3797361"/>
          </a:xfrm>
        </p:spPr>
        <p:txBody>
          <a:bodyPr/>
          <a:lstStyle/>
          <a:p>
            <a:pPr lvl="0"/>
            <a:r>
              <a:rPr lang="en-IN" b="1" dirty="0"/>
              <a:t>Object-Oriented Structure:</a:t>
            </a:r>
            <a:r>
              <a:rPr lang="en-IN" dirty="0"/>
              <a:t> Encapsulated inside </a:t>
            </a:r>
            <a:r>
              <a:rPr lang="en-IN" dirty="0" err="1"/>
              <a:t>JournalManager</a:t>
            </a:r>
            <a:r>
              <a:rPr lang="en-IN" dirty="0"/>
              <a:t> class with instance methods </a:t>
            </a:r>
            <a:r>
              <a:rPr lang="en-IN" dirty="0" err="1"/>
              <a:t>add_entry</a:t>
            </a:r>
            <a:r>
              <a:rPr lang="en-IN" dirty="0"/>
              <a:t>, </a:t>
            </a:r>
            <a:r>
              <a:rPr lang="en-IN" dirty="0" err="1"/>
              <a:t>view_all_entries</a:t>
            </a:r>
            <a:r>
              <a:rPr lang="en-IN" dirty="0"/>
              <a:t>, </a:t>
            </a:r>
            <a:r>
              <a:rPr lang="en-IN" dirty="0" err="1"/>
              <a:t>search_entry</a:t>
            </a:r>
            <a:r>
              <a:rPr lang="en-IN" dirty="0"/>
              <a:t>, and </a:t>
            </a:r>
            <a:r>
              <a:rPr lang="en-IN" dirty="0" err="1"/>
              <a:t>delete_all_entries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File Handling Modes:</a:t>
            </a:r>
            <a:r>
              <a:rPr lang="en-IN" dirty="0"/>
              <a:t> Utilizes append mode ('a') for writing and read mode ('r') for viewing/searching. Uses </a:t>
            </a:r>
            <a:r>
              <a:rPr lang="en-IN" dirty="0" err="1"/>
              <a:t>os.remove</a:t>
            </a:r>
            <a:r>
              <a:rPr lang="en-IN" dirty="0"/>
              <a:t> for file deletion.</a:t>
            </a:r>
          </a:p>
          <a:p>
            <a:pPr lvl="0"/>
            <a:r>
              <a:rPr lang="en-IN" b="1" dirty="0"/>
              <a:t>Exception Handling:</a:t>
            </a:r>
            <a:r>
              <a:rPr lang="en-IN" dirty="0"/>
              <a:t> Contains try-except blocks catching </a:t>
            </a:r>
            <a:r>
              <a:rPr lang="en-IN" dirty="0" err="1"/>
              <a:t>PermissionError</a:t>
            </a:r>
            <a:r>
              <a:rPr lang="en-IN" dirty="0"/>
              <a:t> and generic errors to maintain runtime stability.</a:t>
            </a:r>
          </a:p>
          <a:p>
            <a:pPr lvl="0"/>
            <a:r>
              <a:rPr lang="en-IN" b="1" dirty="0"/>
              <a:t>User Interface:</a:t>
            </a:r>
            <a:r>
              <a:rPr lang="en-IN" dirty="0"/>
              <a:t> Contains a continuous loop menu (while True) with user exit functionality (Choice 5).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D51CE-9CBD-DA91-0A9D-9FAED2FF11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BF475-E745-D673-BC6C-6ED806EE3E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223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bouquet of flowers">
            <a:extLst>
              <a:ext uri="{FF2B5EF4-FFF2-40B4-BE49-F238E27FC236}">
                <a16:creationId xmlns:a16="http://schemas.microsoft.com/office/drawing/2014/main" id="{8AB2ECDC-2C97-9031-6EF9-11EF690976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697D649-277C-A20F-F588-7EA2B85B1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6EF8E06F-4153-981B-474D-3D483B6F4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9000"/>
            <a:ext cx="5981183" cy="874552"/>
          </a:xfrm>
        </p:spPr>
        <p:txBody>
          <a:bodyPr>
            <a:normAutofit/>
          </a:bodyPr>
          <a:lstStyle/>
          <a:p>
            <a:r>
              <a:rPr lang="en-US" sz="2800" dirty="0"/>
              <a:t>File operator = personal Journal Manager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502E84-5063-F43E-AC45-9F5CEAA6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1285" y="3209689"/>
            <a:ext cx="362454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DE43C393-A639-F47D-D8A8-BAF189C5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787" y="3066998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408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{892FDB76-1A21-46DB-887B-532E2A6FE6C5}TF6ca04e33-feaa-4cf5-9b27-d56362f12ac085bf296f_win32-5c14a82fef6c</Template>
  <TotalTime>37</TotalTime>
  <Words>810</Words>
  <Application>Microsoft Office PowerPoint</Application>
  <PresentationFormat>Widescreen</PresentationFormat>
  <Paragraphs>114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Baskerville Old Face</vt:lpstr>
      <vt:lpstr>Calibri</vt:lpstr>
      <vt:lpstr>Gill Sans Nova Light</vt:lpstr>
      <vt:lpstr>Google Sans Text</vt:lpstr>
      <vt:lpstr>Custom</vt:lpstr>
      <vt:lpstr>File operator</vt:lpstr>
      <vt:lpstr>Overview </vt:lpstr>
      <vt:lpstr>Architecture &amp; Class Structure</vt:lpstr>
      <vt:lpstr>PowerPoint Presentation</vt:lpstr>
      <vt:lpstr>File Handling &amp; Operations </vt:lpstr>
      <vt:lpstr>Exception Handling &amp; Validation </vt:lpstr>
      <vt:lpstr>Functionality Test Cases</vt:lpstr>
      <vt:lpstr>Execution Walkthrough </vt:lpstr>
      <vt:lpstr>Sample Session Output</vt:lpstr>
      <vt:lpstr>Project Requirements Compliance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Prajapati</dc:creator>
  <cp:lastModifiedBy>Jay Prajapati</cp:lastModifiedBy>
  <cp:revision>1</cp:revision>
  <dcterms:created xsi:type="dcterms:W3CDTF">2026-09-01T07:30:01Z</dcterms:created>
  <dcterms:modified xsi:type="dcterms:W3CDTF">2026-09-01T08:07:46Z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